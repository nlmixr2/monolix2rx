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Default Extension="gif" ContentType="image/gif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40000"/>
    <a:srgbClr val="E08836"/>
    <a:srgbClr val="DE8400"/>
    <a:srgbClr val="902C10"/>
    <a:srgbClr val="A50021"/>
    <a:srgbClr val="898989"/>
    <a:srgbClr val="C87800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238" autoAdjust="0"/>
    <p:restoredTop sz="96405"/>
  </p:normalViewPr>
  <p:slideViewPr>
    <p:cSldViewPr>
      <p:cViewPr varScale="1">
        <p:scale>
          <a:sx n="131" d="100"/>
          <a:sy n="131" d="100"/>
        </p:scale>
        <p:origin x="336" y="18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 varScale="1">
        <p:scale>
          <a:sx n="99" d="100"/>
          <a:sy n="99" d="100"/>
        </p:scale>
        <p:origin x="4272" y="184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5B5575-5396-4903-B001-2952BE6B9F1B}" type="datetimeFigureOut">
              <a:rPr lang="en-GB" smtClean="0"/>
              <a:t>17/06/2022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42CCE1-13AB-4907-8C53-954A4412C19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961563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5E547EB-7C1B-40A0-9C00-7392B48D9156}" type="datetimeFigureOut">
              <a:rPr lang="en-GB" smtClean="0"/>
              <a:t>17/06/2022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33989F4-5BC7-45C8-8C9A-BD913442709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32489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019400"/>
            <a:ext cx="8534400" cy="1705744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4" name="Rectangle 3"/>
          <p:cNvSpPr/>
          <p:nvPr userDrawn="1"/>
        </p:nvSpPr>
        <p:spPr>
          <a:xfrm>
            <a:off x="0" y="-204936"/>
            <a:ext cx="12192000" cy="15567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8" name="Rectangle 7"/>
          <p:cNvSpPr/>
          <p:nvPr userDrawn="1"/>
        </p:nvSpPr>
        <p:spPr>
          <a:xfrm>
            <a:off x="0" y="6237312"/>
            <a:ext cx="12192000" cy="628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23392" y="476672"/>
            <a:ext cx="10945216" cy="2448272"/>
          </a:xfrm>
        </p:spPr>
        <p:txBody>
          <a:bodyPr anchor="b">
            <a:normAutofit/>
          </a:bodyPr>
          <a:lstStyle>
            <a:lvl1pPr algn="ctr">
              <a:defRPr sz="3200">
                <a:solidFill>
                  <a:srgbClr val="B4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1349CD0D-3304-2010-6F4C-30C08DAD57A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07883" y="4876221"/>
            <a:ext cx="3376233" cy="1333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63821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ext Placeholder 2"/>
          <p:cNvSpPr>
            <a:spLocks noGrp="1"/>
          </p:cNvSpPr>
          <p:nvPr>
            <p:ph idx="1"/>
          </p:nvPr>
        </p:nvSpPr>
        <p:spPr>
          <a:xfrm>
            <a:off x="623392" y="1196752"/>
            <a:ext cx="10945216" cy="51845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2pPr>
            <a:lvl3pPr marL="9144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3pPr>
            <a:lvl4pPr marL="13716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4pPr>
            <a:lvl5pPr marL="18288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082921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ext Placeholder 2"/>
          <p:cNvSpPr>
            <a:spLocks noGrp="1"/>
          </p:cNvSpPr>
          <p:nvPr>
            <p:ph idx="1"/>
          </p:nvPr>
        </p:nvSpPr>
        <p:spPr>
          <a:xfrm>
            <a:off x="623392" y="1196752"/>
            <a:ext cx="10945216" cy="51845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>
              <a:defRPr>
                <a:solidFill>
                  <a:schemeClr val="tx2">
                    <a:lumMod val="50000"/>
                  </a:schemeClr>
                </a:solidFill>
              </a:defRPr>
            </a:lvl2pPr>
            <a:lvl3pPr>
              <a:defRPr>
                <a:solidFill>
                  <a:schemeClr val="tx2">
                    <a:lumMod val="50000"/>
                  </a:schemeClr>
                </a:solidFill>
              </a:defRPr>
            </a:lvl3pPr>
            <a:lvl4pPr>
              <a:defRPr>
                <a:solidFill>
                  <a:schemeClr val="tx2">
                    <a:lumMod val="50000"/>
                  </a:schemeClr>
                </a:solidFill>
              </a:defRPr>
            </a:lvl4pPr>
            <a:lvl5pPr>
              <a:defRPr>
                <a:solidFill>
                  <a:schemeClr val="tx2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929785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ection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019400"/>
            <a:ext cx="8534400" cy="1705744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4" name="Rectangle 3"/>
          <p:cNvSpPr/>
          <p:nvPr userDrawn="1"/>
        </p:nvSpPr>
        <p:spPr>
          <a:xfrm>
            <a:off x="0" y="-204936"/>
            <a:ext cx="12192000" cy="15567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8" name="Rectangle 7"/>
          <p:cNvSpPr/>
          <p:nvPr userDrawn="1"/>
        </p:nvSpPr>
        <p:spPr>
          <a:xfrm>
            <a:off x="0" y="6237312"/>
            <a:ext cx="12192000" cy="628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23392" y="476672"/>
            <a:ext cx="10945216" cy="2448272"/>
          </a:xfrm>
        </p:spPr>
        <p:txBody>
          <a:bodyPr anchor="b">
            <a:normAutofit/>
          </a:bodyPr>
          <a:lstStyle>
            <a:lvl1pPr algn="ctr">
              <a:defRPr sz="3200">
                <a:solidFill>
                  <a:srgbClr val="B4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1349CD0D-3304-2010-6F4C-30C08DAD57A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07883" y="4876221"/>
            <a:ext cx="3376233" cy="1333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11842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header_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DDC6DC6-C279-6D60-9948-13C3E4D8D8E2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3392" y="1202136"/>
            <a:ext cx="5395912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Left title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828800"/>
            <a:ext cx="5395912" cy="4552950"/>
          </a:xfrm>
        </p:spPr>
        <p:txBody>
          <a:bodyPr/>
          <a:lstStyle/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828800"/>
            <a:ext cx="5395913" cy="4552950"/>
          </a:xfrm>
        </p:spPr>
        <p:txBody>
          <a:bodyPr/>
          <a:lstStyle/>
          <a:p>
            <a:pPr lvl="0"/>
            <a:r>
              <a:rPr lang="en-US" dirty="0"/>
              <a:t>Right list</a:t>
            </a: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E5EB4F9C-92B3-A278-E210-FACFF4605246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172200" y="1201738"/>
            <a:ext cx="5395913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Right title</a:t>
            </a:r>
          </a:p>
        </p:txBody>
      </p:sp>
    </p:spTree>
    <p:extLst>
      <p:ext uri="{BB962C8B-B14F-4D97-AF65-F5344CB8AC3E}">
        <p14:creationId xmlns:p14="http://schemas.microsoft.com/office/powerpoint/2010/main" val="4215845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header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DDC6DC6-C279-6D60-9948-13C3E4D8D8E2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3392" y="1202136"/>
            <a:ext cx="5395912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Left title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828800"/>
            <a:ext cx="5395912" cy="45529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828800"/>
            <a:ext cx="5395913" cy="45529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Right list</a:t>
            </a: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E5EB4F9C-92B3-A278-E210-FACFF4605246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172200" y="1201738"/>
            <a:ext cx="5395913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Right title</a:t>
            </a:r>
          </a:p>
        </p:txBody>
      </p:sp>
    </p:spTree>
    <p:extLst>
      <p:ext uri="{BB962C8B-B14F-4D97-AF65-F5344CB8AC3E}">
        <p14:creationId xmlns:p14="http://schemas.microsoft.com/office/powerpoint/2010/main" val="33412999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282430"/>
            <a:ext cx="5395912" cy="5099320"/>
          </a:xfrm>
        </p:spPr>
        <p:txBody>
          <a:bodyPr/>
          <a:lstStyle/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282430"/>
            <a:ext cx="5395913" cy="5099320"/>
          </a:xfrm>
        </p:spPr>
        <p:txBody>
          <a:bodyPr/>
          <a:lstStyle/>
          <a:p>
            <a:pPr lvl="0"/>
            <a:r>
              <a:rPr lang="en-US" dirty="0"/>
              <a:t>Right list</a:t>
            </a:r>
          </a:p>
        </p:txBody>
      </p:sp>
    </p:spTree>
    <p:extLst>
      <p:ext uri="{BB962C8B-B14F-4D97-AF65-F5344CB8AC3E}">
        <p14:creationId xmlns:p14="http://schemas.microsoft.com/office/powerpoint/2010/main" val="38614729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282430"/>
            <a:ext cx="5395912" cy="509932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282430"/>
            <a:ext cx="5395913" cy="509932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Right list</a:t>
            </a:r>
          </a:p>
        </p:txBody>
      </p:sp>
    </p:spTree>
    <p:extLst>
      <p:ext uri="{BB962C8B-B14F-4D97-AF65-F5344CB8AC3E}">
        <p14:creationId xmlns:p14="http://schemas.microsoft.com/office/powerpoint/2010/main" val="29267271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z="800"/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53101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z="800"/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99597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sv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392" y="1196752"/>
            <a:ext cx="10945216" cy="51845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159564" y="6564883"/>
            <a:ext cx="7392821" cy="230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tx2">
                    <a:lumMod val="75000"/>
                  </a:schemeClr>
                </a:solidFill>
                <a:latin typeface="+mn-lt"/>
                <a:ea typeface="Tahoma" pitchFamily="34" charset="0"/>
                <a:cs typeface="Tahoma" pitchFamily="34" charset="0"/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23392" y="6564883"/>
            <a:ext cx="1056117" cy="230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rgbClr val="B40000"/>
                </a:solidFill>
                <a:latin typeface="+mn-lt"/>
                <a:ea typeface="Tahoma" pitchFamily="34" charset="0"/>
                <a:cs typeface="Tahoma" pitchFamily="34" charset="0"/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20B426CB-3DAD-88F5-2025-3EA5EC89371D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0168524" y="6239370"/>
            <a:ext cx="1400084" cy="5531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5295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1" r:id="rId9"/>
    <p:sldLayoutId id="2147483653" r:id="rId10"/>
  </p:sldLayoutIdLst>
  <p:hf hdr="0" dt="0"/>
  <p:txStyles>
    <p:titleStyle>
      <a:lvl1pPr algn="l" defTabSz="914400" rtl="0" eaLnBrk="1" latinLnBrk="0" hangingPunct="1">
        <a:spcBef>
          <a:spcPct val="0"/>
        </a:spcBef>
        <a:buNone/>
        <a:defRPr sz="2400" b="1" kern="1200">
          <a:solidFill>
            <a:srgbClr val="B40000"/>
          </a:solidFill>
          <a:latin typeface="+mn-lt"/>
          <a:ea typeface="Tahoma" pitchFamily="34" charset="0"/>
          <a:cs typeface="Tahoma" pitchFamily="34" charset="0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24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1pPr>
      <a:lvl2pPr marL="742950" indent="-28575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22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2pPr>
      <a:lvl3pPr marL="1143000" indent="-2286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20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3pPr>
      <a:lvl4pPr marL="1600200" indent="-2286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18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4pPr>
      <a:lvl5pPr marL="2057400" indent="-2286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16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8bc44d3c4be36da107d2fdd88e5878209dadf8f8.png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7a6b52c47d60bc7e8cda51e1db87c7e2b817a96d.png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b12b85f1fb778cdeaffae37c5dbf87316ef9aa31.png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edcb5043c01f7460bc771e567cb596e8b29bcec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Model structure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Model equations</a:t>
            </a:r>
          </a:p>
        </p:txBody>
      </p:sp>
      <p:graphicFrame>
        <p:nvGraphicFramePr>
          <p:cNvPr id="3" name="Text Placeholder 2"/>
          <p:cNvGraphicFramePr>
            <a:graphicFrameLocks noGrp="true"/>
          </p:cNvGraphicFramePr>
          <p:nvPr/>
        </p:nvGraphicFramePr>
        <p:xfrm rot="0">
          <a:off x="623392" y="1196752"/>
          <a:ext cx="10945216" cy="5184576"/>
        </p:xfrm>
        <a:graphic>
          <a:graphicData uri="http://schemas.openxmlformats.org/drawingml/2006/table">
            <a:tbl>
              <a:tblPr/>
              <a:tblGrid>
                <a:gridCol w="54864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cmt(</m:t>
                                </m:r>
                                <m:r>
                                  <m:t>depot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cmt(</m:t>
                                </m:r>
                                <m:r>
                                  <m:t>central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ka</m:t>
                                </m:r>
                                <m:r>
                                  <m:t>=</m:t>
                                </m:r>
                                <m:r>
                                  <m:rPr>
                                    <m:sty m:val="p"/>
                                  </m:rPr>
                                  <m:t>exp</m:t>
                                </m:r>
                                <m:r>
                                  <m:t>⁡</m:t>
                                </m:r>
                                <m:r>
                                  <m:t>(</m:t>
                                </m:r>
                                <m:r>
                                  <m:t>ka</m:t>
                                </m:r>
                                <m:r>
                                  <m:rPr>
                                    <m:sty m:val="p"/>
                                  </m:rPr>
                                  <m:t>_</m:t>
                                </m:r>
                                <m:r>
                                  <m:t>pop</m:t>
                                </m:r>
                                <m:r>
                                  <m:t>+</m:t>
                                </m:r>
                                <m:r>
                                  <m:t>omega</m:t>
                                </m:r>
                                <m:r>
                                  <m:rPr>
                                    <m:sty m:val="p"/>
                                  </m:rPr>
                                  <m:t>_</m:t>
                                </m:r>
                                <m:r>
                                  <m:t>ka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V=</m:t>
                                </m:r>
                                <m:r>
                                  <m:rPr>
                                    <m:sty m:val="p"/>
                                  </m:rPr>
                                  <m:t>exp</m:t>
                                </m:r>
                                <m:r>
                                  <m:t>⁡</m:t>
                                </m:r>
                                <m:r>
                                  <m:t>(</m:t>
                                </m:r>
                                <m:r>
                                  <m:t>V</m:t>
                                </m:r>
                                <m:r>
                                  <m:rPr>
                                    <m:sty m:val="p"/>
                                  </m:rPr>
                                  <m:t>_</m:t>
                                </m:r>
                                <m:r>
                                  <m:t>pop</m:t>
                                </m:r>
                                <m:r>
                                  <m:t>+</m:t>
                                </m:r>
                                <m:r>
                                  <m:t>omega</m:t>
                                </m:r>
                                <m:r>
                                  <m:rPr>
                                    <m:sty m:val="p"/>
                                  </m:rPr>
                                  <m:t>_</m:t>
                                </m:r>
                                <m:r>
                                  <m:t>V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Cl</m:t>
                                </m:r>
                                <m:r>
                                  <m:t>=</m:t>
                                </m:r>
                                <m:r>
                                  <m:rPr>
                                    <m:sty m:val="p"/>
                                  </m:rPr>
                                  <m:t>exp</m:t>
                                </m:r>
                                <m:r>
                                  <m:t>⁡</m:t>
                                </m:r>
                                <m:r>
                                  <m:t>(</m:t>
                                </m:r>
                                <m:r>
                                  <m:t>Cl</m:t>
                                </m:r>
                                <m:r>
                                  <m:rPr>
                                    <m:sty m:val="p"/>
                                  </m:rPr>
                                  <m:t>_</m:t>
                                </m:r>
                                <m:r>
                                  <m:t>pop</m:t>
                                </m:r>
                                <m:r>
                                  <m:t>+</m:t>
                                </m:r>
                                <m:r>
                                  <m:t>omega</m:t>
                                </m:r>
                                <m:r>
                                  <m:rPr>
                                    <m:sty m:val="p"/>
                                  </m:rPr>
                                  <m:t>_</m:t>
                                </m:r>
                                <m:r>
                                  <m:t>Cl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d</m:t>
                                    </m:r>
                                    <m:r>
                                      <m:rPr>
                                        <m:nor/>
                                      </m:rPr>
                                      <m:t> </m:t>
                                    </m:r>
                                    <m:r>
                                      <m:t>depot</m:t>
                                    </m:r>
                                  </m:num>
                                  <m:den>
                                    <m:r>
                                      <m:t>dt</m:t>
                                    </m:r>
                                  </m:den>
                                </m:f>
                                <m:r>
                                  <m:t>=−</m:t>
                                </m:r>
                                <m:r>
                                  <m:t>ka</m:t>
                                </m:r>
                                <m:r>
                                  <m:t>×</m:t>
                                </m:r>
                                <m:r>
                                  <m:t>depot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d</m:t>
                                    </m:r>
                                    <m:r>
                                      <m:rPr>
                                        <m:nor/>
                                      </m:rPr>
                                      <m:t> </m:t>
                                    </m:r>
                                    <m:r>
                                      <m:t>central</m:t>
                                    </m:r>
                                  </m:num>
                                  <m:den>
                                    <m:r>
                                      <m:t>dt</m:t>
                                    </m:r>
                                  </m:den>
                                </m:f>
                                <m:r>
                                  <m:t>=+</m:t>
                                </m:r>
                                <m:r>
                                  <m:t>ka</m:t>
                                </m:r>
                                <m:r>
                                  <m:t>×</m:t>
                                </m:r>
                                <m:r>
                                  <m:t>depot</m:t>
                                </m:r>
                                <m:r>
                                  <m:t>−</m:t>
                                </m:r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Cl</m:t>
                                    </m:r>
                                  </m:num>
                                  <m:den>
                                    <m:r>
                                      <m:t>V</m:t>
                                    </m:r>
                                  </m:den>
                                </m:f>
                                <m:r>
                                  <m:t>×</m:t>
                                </m:r>
                                <m:r>
                                  <m:t>central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Cc</m:t>
                                </m:r>
                                <m:r>
                                  <m:t>=</m:t>
                                </m:r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central</m:t>
                                    </m:r>
                                  </m:num>
                                  <m:den>
                                    <m:r>
                                      <m:t>V</m:t>
                                    </m:r>
                                  </m:den>
                                </m:f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CONC</m:t>
                                </m:r>
                                <m:r>
                                  <m:t>=</m:t>
                                </m:r>
                                <m:r>
                                  <m:t>Cc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CONC</m:t>
                                </m:r>
                                <m:r>
                                  <m:t>∼add(a)+prop(b)+combined1()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Parameter Estimates</a:t>
            </a:r>
          </a:p>
        </p:txBody>
      </p:sp>
      <p:graphicFrame>
        <p:nvGraphicFramePr>
          <p:cNvPr id="3" name="Text Placeholder 2"/>
          <p:cNvGraphicFramePr>
            <a:graphicFrameLocks noGrp="true"/>
          </p:cNvGraphicFramePr>
          <p:nvPr/>
        </p:nvGraphicFramePr>
        <p:xfrm rot="0">
          <a:off x="623392" y="1196752"/>
          <a:ext cx="10945216" cy="5184576"/>
        </p:xfrm>
        <a:graphic>
          <a:graphicData uri="http://schemas.openxmlformats.org/drawingml/2006/table">
            <a:tbl>
              <a:tblPr/>
              <a:tblGrid>
                <a:gridCol w="993857"/>
                <a:gridCol w="749587"/>
                <a:gridCol w="749587"/>
                <a:gridCol w="667527"/>
                <a:gridCol w="2070530"/>
                <a:gridCol w="975713"/>
                <a:gridCol w="1141675"/>
              </a:tblGrid>
              <a:tr h="40513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Parameter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Est.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%RSE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Back-transformed(95%CI)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BSV(CV%)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Shrink(SD)%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ka_pop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0.427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0.204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47.8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1.53 (1.03, 2.29)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75.4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1.05&lt;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V_pop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-0.786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0.0450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5.72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0.456 (0.417, 0.497)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12.7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13.3&lt;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Cl_pop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-3.21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0.0837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2.61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0.0402 (0.0341, 0.0473)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27.6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2.65&lt;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0.433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0.433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1084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b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0.0543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0.0543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Observed vs Predicted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SAEM Stabilization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ccamsPresentation">
  <a:themeElements>
    <a:clrScheme name="Custom 3">
      <a:dk1>
        <a:srgbClr val="3B3B3B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902C10"/>
      </a:accent2>
      <a:accent3>
        <a:srgbClr val="9BBB59"/>
      </a:accent3>
      <a:accent4>
        <a:srgbClr val="8064A2"/>
      </a:accent4>
      <a:accent5>
        <a:srgbClr val="4BACC6"/>
      </a:accent5>
      <a:accent6>
        <a:srgbClr val="E08836"/>
      </a:accent6>
      <a:hlink>
        <a:srgbClr val="902C10"/>
      </a:hlink>
      <a:folHlink>
        <a:srgbClr val="902C10"/>
      </a:folHlink>
    </a:clrScheme>
    <a:fontScheme name="Century Gothic">
      <a:maj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A14DE638-5A32-4AB1-8CA5-820AF9071EC6}" vid="{FC3C1A1D-E4C3-4376-B9E9-5A1F7F3A1C2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Arial</vt:lpstr>
      <vt:lpstr>Calibri</vt:lpstr>
      <vt:lpstr>Century Gothic</vt:lpstr>
      <vt:lpstr>OccamsPresentation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subject/>
  <dc:creator>John Harrold</dc:creator>
  <cp:keywords/>
  <dc:description/>
  <cp:lastModifiedBy>runner</cp:lastModifiedBy>
  <cp:revision>9</cp:revision>
  <dcterms:created xsi:type="dcterms:W3CDTF">2022-06-17T14:02:13Z</dcterms:created>
  <dcterms:modified xsi:type="dcterms:W3CDTF">2026-09-27T15:32:56Z</dcterms:modified>
  <cp:category/>
</cp:coreProperties>
</file>