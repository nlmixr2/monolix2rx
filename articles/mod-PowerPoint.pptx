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Default Extension="gif" ContentType="image/gif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40000"/>
    <a:srgbClr val="E08836"/>
    <a:srgbClr val="DE8400"/>
    <a:srgbClr val="902C10"/>
    <a:srgbClr val="A50021"/>
    <a:srgbClr val="898989"/>
    <a:srgbClr val="C87800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238" autoAdjust="0"/>
    <p:restoredTop sz="96405"/>
  </p:normalViewPr>
  <p:slideViewPr>
    <p:cSldViewPr>
      <p:cViewPr varScale="1">
        <p:scale>
          <a:sx n="131" d="100"/>
          <a:sy n="131" d="100"/>
        </p:scale>
        <p:origin x="336" y="1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 varScale="1">
        <p:scale>
          <a:sx n="99" d="100"/>
          <a:sy n="99" d="100"/>
        </p:scale>
        <p:origin x="4272" y="184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5B5575-5396-4903-B001-2952BE6B9F1B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42CCE1-13AB-4907-8C53-954A4412C191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961563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547EB-7C1B-40A0-9C00-7392B48D9156}" type="datetimeFigureOut">
              <a:rPr lang="en-GB" smtClean="0"/>
              <a:t>17/06/2022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3989F4-5BC7-45C8-8C9A-BD91344270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324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63821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 marL="9144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 marL="13716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 marL="1828800" indent="0">
              <a:buNone/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082921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7" name="Text Placeholder 2"/>
          <p:cNvSpPr>
            <a:spLocks noGrp="1"/>
          </p:cNvSpPr>
          <p:nvPr>
            <p:ph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>
              <a:defRPr>
                <a:solidFill>
                  <a:schemeClr val="tx2">
                    <a:lumMod val="50000"/>
                  </a:schemeClr>
                </a:solidFill>
              </a:defRPr>
            </a:lvl2pPr>
            <a:lvl3pPr>
              <a:defRPr>
                <a:solidFill>
                  <a:schemeClr val="tx2">
                    <a:lumMod val="50000"/>
                  </a:schemeClr>
                </a:solidFill>
              </a:defRPr>
            </a:lvl3pPr>
            <a:lvl4pPr>
              <a:defRPr>
                <a:solidFill>
                  <a:schemeClr val="tx2">
                    <a:lumMod val="50000"/>
                  </a:schemeClr>
                </a:solidFill>
              </a:defRPr>
            </a:lvl4pPr>
            <a:lvl5pPr>
              <a:defRPr>
                <a:solidFill>
                  <a:schemeClr val="tx2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929785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ection_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019400"/>
            <a:ext cx="8534400" cy="1705744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2">
                    <a:lumMod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4" name="Rectangle 3"/>
          <p:cNvSpPr/>
          <p:nvPr userDrawn="1"/>
        </p:nvSpPr>
        <p:spPr>
          <a:xfrm>
            <a:off x="0" y="-204936"/>
            <a:ext cx="12192000" cy="15567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8" name="Rectangle 7"/>
          <p:cNvSpPr/>
          <p:nvPr userDrawn="1"/>
        </p:nvSpPr>
        <p:spPr>
          <a:xfrm>
            <a:off x="0" y="6237312"/>
            <a:ext cx="12192000" cy="628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392" y="476672"/>
            <a:ext cx="10945216" cy="2448272"/>
          </a:xfrm>
        </p:spPr>
        <p:txBody>
          <a:bodyPr anchor="b">
            <a:normAutofit/>
          </a:bodyPr>
          <a:lstStyle>
            <a:lvl1pPr algn="ctr">
              <a:defRPr sz="3200">
                <a:solidFill>
                  <a:srgbClr val="B4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1349CD0D-3304-2010-6F4C-30C08DAD57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07883" y="4876221"/>
            <a:ext cx="3376233" cy="1333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11842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4215845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header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BDDC6DC6-C279-6D60-9948-13C3E4D8D8E2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3392" y="1202136"/>
            <a:ext cx="5395912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Left title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828800"/>
            <a:ext cx="5395912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828800"/>
            <a:ext cx="5395913" cy="45529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  <p:sp>
        <p:nvSpPr>
          <p:cNvPr id="16" name="Content Placeholder 15">
            <a:extLst>
              <a:ext uri="{FF2B5EF4-FFF2-40B4-BE49-F238E27FC236}">
                <a16:creationId xmlns:a16="http://schemas.microsoft.com/office/drawing/2014/main" id="{E5EB4F9C-92B3-A278-E210-FACFF4605246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172200" y="1201738"/>
            <a:ext cx="5395913" cy="492125"/>
          </a:xfrm>
        </p:spPr>
        <p:txBody>
          <a:bodyPr/>
          <a:lstStyle>
            <a:lvl1pPr marL="0" indent="0">
              <a:buNone/>
              <a:defRPr>
                <a:solidFill>
                  <a:srgbClr val="C00000"/>
                </a:solidFill>
              </a:defRPr>
            </a:lvl1pPr>
          </a:lstStyle>
          <a:p>
            <a:pPr lvl="0"/>
            <a:r>
              <a:rPr lang="en-US" dirty="0"/>
              <a:t>Right title</a:t>
            </a:r>
          </a:p>
        </p:txBody>
      </p:sp>
    </p:spTree>
    <p:extLst>
      <p:ext uri="{BB962C8B-B14F-4D97-AF65-F5344CB8AC3E}">
        <p14:creationId xmlns:p14="http://schemas.microsoft.com/office/powerpoint/2010/main" val="33412999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/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/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38614729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_content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800" b="1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>
                <a:solidFill>
                  <a:srgbClr val="B40000"/>
                </a:solidFill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6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2159564" y="6564883"/>
            <a:ext cx="7392821" cy="230400"/>
          </a:xfrm>
        </p:spPr>
        <p:txBody>
          <a:bodyPr/>
          <a:lstStyle>
            <a:lvl1pPr>
              <a:defRPr>
                <a:solidFill>
                  <a:schemeClr val="tx2">
                    <a:lumMod val="75000"/>
                  </a:schemeClr>
                </a:solidFill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3103697-C80C-C9D7-DE12-CD2A49021A15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23888" y="1282430"/>
            <a:ext cx="5395912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Left list</a:t>
            </a:r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2E82F6E9-9544-AA99-945C-603F29731EBB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6172200" y="1282430"/>
            <a:ext cx="5395913" cy="509932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Right list</a:t>
            </a:r>
          </a:p>
        </p:txBody>
      </p:sp>
    </p:spTree>
    <p:extLst>
      <p:ext uri="{BB962C8B-B14F-4D97-AF65-F5344CB8AC3E}">
        <p14:creationId xmlns:p14="http://schemas.microsoft.com/office/powerpoint/2010/main" val="29267271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653101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z="800"/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99597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392" y="1196752"/>
            <a:ext cx="10945216" cy="51845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59564" y="6564883"/>
            <a:ext cx="7392821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2">
                    <a:lumMod val="75000"/>
                  </a:schemeClr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r>
              <a:rPr lang="en-GB"/>
              <a:t>nlmix</a:t>
            </a:r>
            <a:r>
              <a:rPr lang="en-GB">
                <a:solidFill>
                  <a:srgbClr val="B40000"/>
                </a:solidFill>
              </a:rPr>
              <a:t>r</a:t>
            </a:r>
            <a:r>
              <a:rPr lang="en-GB"/>
              <a:t> development team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23392" y="6564883"/>
            <a:ext cx="1056117" cy="230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rgbClr val="B40000"/>
                </a:solidFill>
                <a:latin typeface="+mn-lt"/>
                <a:ea typeface="Tahoma" pitchFamily="34" charset="0"/>
                <a:cs typeface="Tahoma" pitchFamily="34" charset="0"/>
              </a:defRPr>
            </a:lvl1pPr>
          </a:lstStyle>
          <a:p>
            <a:fld id="{133EA325-E17C-4431-8C79-1AEA4A396602}" type="slidenum">
              <a:rPr lang="en-GB" smtClean="0"/>
              <a:pPr/>
              <a:t>‹#›</a:t>
            </a:fld>
            <a:endParaRPr lang="en-GB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0B426CB-3DAD-88F5-2025-3EA5EC89371D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168524" y="6239370"/>
            <a:ext cx="1400084" cy="55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5295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1" r:id="rId9"/>
    <p:sldLayoutId id="2147483653" r:id="rId10"/>
  </p:sldLayoutIdLst>
  <p:hf hdr="0" dt="0"/>
  <p:txStyles>
    <p:titleStyle>
      <a:lvl1pPr algn="l" defTabSz="914400" rtl="0" eaLnBrk="1" latinLnBrk="0" hangingPunct="1">
        <a:spcBef>
          <a:spcPct val="0"/>
        </a:spcBef>
        <a:buNone/>
        <a:defRPr sz="2400" b="1" kern="1200">
          <a:solidFill>
            <a:srgbClr val="B40000"/>
          </a:solidFill>
          <a:latin typeface="+mn-lt"/>
          <a:ea typeface="Tahoma" pitchFamily="34" charset="0"/>
          <a:cs typeface="Tahoma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4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2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20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8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rgbClr val="B40000"/>
        </a:buClr>
        <a:buFont typeface="Arial" pitchFamily="34" charset="0"/>
        <a:buChar char="•"/>
        <a:defRPr sz="1600" kern="1200">
          <a:solidFill>
            <a:schemeClr val="tx2">
              <a:lumMod val="50000"/>
            </a:schemeClr>
          </a:solidFill>
          <a:latin typeface="Calibri" panose="020F0502020204030204" pitchFamily="34" charset="0"/>
          <a:ea typeface="Tahoma" pitchFamily="34" charset="0"/>
          <a:cs typeface="Tahoma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7a6b52c47d60bc7e8cda51e1db87c7e2b817a96d.png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12b85f1fb778cdeaffae37c5dbf87316ef9aa3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6d06741378008a709265a6f7c4d4064d966ea896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Parameter Estimates</a:t>
            </a:r>
          </a:p>
        </p:txBody>
      </p:sp>
      <p:graphicFrame>
        <p:nvGraphicFramePr>
          <p:cNvPr id="3" name="Text Placeholder 2"/>
          <p:cNvGraphicFramePr>
            <a:graphicFrameLocks noGrp="true"/>
          </p:cNvGraphicFramePr>
          <p:nvPr/>
        </p:nvGraphicFramePr>
        <p:xfrm rot="0">
          <a:off x="623392" y="1196752"/>
          <a:ext cx="10945216" cy="5184576"/>
        </p:xfrm>
        <a:graphic>
          <a:graphicData uri="http://schemas.openxmlformats.org/drawingml/2006/table">
            <a:tbl>
              <a:tblPr/>
              <a:tblGrid>
                <a:gridCol w="993857"/>
                <a:gridCol w="749587"/>
                <a:gridCol w="749587"/>
                <a:gridCol w="667527"/>
                <a:gridCol w="2070530"/>
                <a:gridCol w="975713"/>
                <a:gridCol w="1141675"/>
              </a:tblGrid>
              <a:tr h="40513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Parameter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Est.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%RSE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Back-transformed(95%CI)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BSV(CV%)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Shrink(SD)%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ka_pop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0.427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0.204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47.8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1.53 (1.03, 2.29)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75.4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1.05&lt;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V_pop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-0.786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0.0450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5.72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0.456 (0.417, 0.497)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13.3&lt;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Cl_pop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-3.21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0.0837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0.0402 (0.0341, 0.0473)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27.6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2.65&lt;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0.433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1084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2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b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0.0543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000000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Individual and population prediction overlay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Observed vs Predicted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392" y="113388"/>
            <a:ext cx="10945216" cy="985909"/>
          </a:xfrm>
        </p:spPr>
        <p:txBody>
          <a:bodyPr/>
          <a:lstStyle/>
          <a:p>
            <a:r>
              <a:rPr/>
              <a:t>SAEM Stabilization</a:t>
            </a:r>
          </a:p>
        </p:txBody>
      </p:sp>
      <p:pic>
        <p:nvPicPr>
          <p:cNvPr id="3" name="Text Placeholder 2" descr=""/>
          <p:cNvPicPr>
            <a:picLocks noGrp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23392" y="1196752"/>
            <a:ext cx="10945216" cy="51845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ccamsPresentation">
  <a:themeElements>
    <a:clrScheme name="Custom 3">
      <a:dk1>
        <a:srgbClr val="3B3B3B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902C10"/>
      </a:accent2>
      <a:accent3>
        <a:srgbClr val="9BBB59"/>
      </a:accent3>
      <a:accent4>
        <a:srgbClr val="8064A2"/>
      </a:accent4>
      <a:accent5>
        <a:srgbClr val="4BACC6"/>
      </a:accent5>
      <a:accent6>
        <a:srgbClr val="E08836"/>
      </a:accent6>
      <a:hlink>
        <a:srgbClr val="902C10"/>
      </a:hlink>
      <a:folHlink>
        <a:srgbClr val="902C10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A14DE638-5A32-4AB1-8CA5-820AF9071EC6}" vid="{FC3C1A1D-E4C3-4376-B9E9-5A1F7F3A1C2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Century Gothic</vt:lpstr>
      <vt:lpstr>OccamsPresentation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subject/>
  <dc:creator>John Harrold</dc:creator>
  <cp:keywords/>
  <dc:description/>
  <cp:lastModifiedBy>runner</cp:lastModifiedBy>
  <cp:revision>9</cp:revision>
  <dcterms:created xsi:type="dcterms:W3CDTF">2022-06-17T14:02:13Z</dcterms:created>
  <dcterms:modified xsi:type="dcterms:W3CDTF">2026-08-12T12:11:24Z</dcterms:modified>
  <cp:category/>
</cp:coreProperties>
</file>